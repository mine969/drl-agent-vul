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Confirmed detection rate</c:v>
                </c:pt>
              </c:strCache>
            </c:strRef>
          </c:tx>
          <c:spPr>
            <a:solidFill>
              <a:srgbClr val="D7263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E-Commerce</c:v>
                  </c:pt>
                  <c:pt idx="1">
                    <c:v>Social Media</c:v>
                  </c:pt>
                  <c:pt idx="2">
                    <c:v>Banking</c:v>
                  </c:pt>
                  <c:pt idx="3">
                    <c:v>Blog</c:v>
                  </c:pt>
                  <c:pt idx="4">
                    <c:v>File Share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</c:v>
                </c:pt>
                <c:pt idx="1">
                  <c:v>16.7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43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507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12700" cap="flat">
              <a:solidFill>
                <a:srgbClr val="E4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4507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445070"/>
                    </a:solidFill>
                    <a:latin typeface="Arial"/>
                  </a:rPr>
                  <a:t>Detection rate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50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572000" cy="4572000"/>
          </a:xfrm>
          <a:prstGeom prst="ellipse">
            <a:avLst/>
          </a:prstGeom>
          <a:solidFill>
            <a:srgbClr val="16274F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-457200"/>
            <a:ext cx="2194560" cy="2194560"/>
          </a:xfrm>
          <a:prstGeom prst="ellipse">
            <a:avLst/>
          </a:prstGeom>
          <a:solidFill>
            <a:srgbClr val="1D2E5C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INCIT 2026  ·  BANGKOK, THAILAND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87782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 Reinforcement Learning</a:t>
            </a:r>
            <a:endParaRPr lang="en-US" sz="4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Vulnerability Scanner for</a:t>
            </a:r>
            <a:endParaRPr lang="en-US" sz="4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Applications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41605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Extended D3QN agent that learns to find what static and rule-based scanners miss.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074920"/>
            <a:ext cx="2011680" cy="0"/>
          </a:xfrm>
          <a:prstGeom prst="line">
            <a:avLst/>
          </a:prstGeom>
          <a:noFill/>
          <a:ln w="31750">
            <a:solidFill>
              <a:srgbClr val="D72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257800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Hein Htet Zaw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 Yongsiriwit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Rangsit University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D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Pentesting doesn't scale with how fast web apps ship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246120" cy="3383280"/>
          </a:xfrm>
          <a:prstGeom prst="roundRect">
            <a:avLst>
              <a:gd name="adj" fmla="val 2254"/>
            </a:avLst>
          </a:prstGeom>
          <a:solidFill>
            <a:srgbClr val="F4F6FB"/>
          </a:solidFill>
          <a:ln/>
          <a:effectLst>
            <a:outerShdw sx="100000" sy="100000" kx="0" ky="0" algn="bl" rotWithShape="0" blurRad="76200" dist="25400" dir="5400000">
              <a:srgbClr val="999999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40280"/>
            <a:ext cx="502920" cy="502920"/>
          </a:xfrm>
          <a:prstGeom prst="ellipse">
            <a:avLst/>
          </a:prstGeom>
          <a:solidFill>
            <a:srgbClr val="0F1B3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40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971800"/>
            <a:ext cx="2697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4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pentesting is slow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703320"/>
            <a:ext cx="2697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Skilled testers are expensive and scarce; release cycles now measured in days, not quarters.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14800" y="1920240"/>
            <a:ext cx="3246120" cy="3383280"/>
          </a:xfrm>
          <a:prstGeom prst="roundRect">
            <a:avLst>
              <a:gd name="adj" fmla="val 2254"/>
            </a:avLst>
          </a:prstGeom>
          <a:solidFill>
            <a:srgbClr val="F4F6FB"/>
          </a:solidFill>
          <a:ln/>
          <a:effectLst>
            <a:outerShdw sx="100000" sy="100000" kx="0" ky="0" algn="bl" rotWithShape="0" blurRad="76200" dist="25400" dir="5400000">
              <a:srgbClr val="999999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2240280"/>
            <a:ext cx="502920" cy="502920"/>
          </a:xfrm>
          <a:prstGeom prst="ellipse">
            <a:avLst/>
          </a:prstGeom>
          <a:solidFill>
            <a:srgbClr val="0F1B3C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0" y="2240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389120" y="2971800"/>
            <a:ext cx="2697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4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 / rule-based scanners plateau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389120" y="3703320"/>
            <a:ext cx="2697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catch signature-shaped bugs but miss logic flaws that only appear across multi-step workflows.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680960" y="1920240"/>
            <a:ext cx="3246120" cy="3383280"/>
          </a:xfrm>
          <a:prstGeom prst="roundRect">
            <a:avLst>
              <a:gd name="adj" fmla="val 2254"/>
            </a:avLst>
          </a:prstGeom>
          <a:solidFill>
            <a:srgbClr val="F4F6FB"/>
          </a:solidFill>
          <a:ln/>
          <a:effectLst>
            <a:outerShdw sx="100000" sy="100000" kx="0" ky="0" algn="bl" rotWithShape="0" blurRad="76200" dist="25400" dir="5400000">
              <a:srgbClr val="999999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955280" y="2240280"/>
            <a:ext cx="502920" cy="502920"/>
          </a:xfrm>
          <a:prstGeom prst="ellipse">
            <a:avLst/>
          </a:prstGeom>
          <a:solidFill>
            <a:srgbClr val="0F1B3C"/>
          </a:solidFill>
          <a:ln/>
        </p:spPr>
      </p:sp>
      <p:sp>
        <p:nvSpPr>
          <p:cNvPr id="16" name="Text 14"/>
          <p:cNvSpPr/>
          <p:nvPr/>
        </p:nvSpPr>
        <p:spPr>
          <a:xfrm>
            <a:off x="7955280" y="2240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955280" y="2971800"/>
            <a:ext cx="2697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4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IDOR-class bugs are the blind spot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955280" y="3703320"/>
            <a:ext cx="2697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object-level authorization needs context and state -- exactly what stateless scanners lack.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isn't tooling volume -- it's tools that can't reason across multi-step application state.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WORK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 DRL scanners solve one vulnerability class at a time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1064240" cy="1051560"/>
          </a:xfrm>
          <a:prstGeom prst="roundRect">
            <a:avLst>
              <a:gd name="adj" fmla="val 6087"/>
            </a:avLst>
          </a:prstGeom>
          <a:solidFill>
            <a:srgbClr val="16274F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221992"/>
            <a:ext cx="548640" cy="548640"/>
          </a:xfrm>
          <a:prstGeom prst="ellipse">
            <a:avLst/>
          </a:prstGeom>
          <a:solidFill>
            <a:srgbClr val="D7263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21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2075688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Single-vulnerability agents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5029200" y="2075688"/>
            <a:ext cx="6309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fuzzers tuned for one bug class (e.g. XSS-only or SQLi-only) -- retraining needed per class.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11064240" cy="1051560"/>
          </a:xfrm>
          <a:prstGeom prst="roundRect">
            <a:avLst>
              <a:gd name="adj" fmla="val 6087"/>
            </a:avLst>
          </a:prstGeom>
          <a:solidFill>
            <a:srgbClr val="16274F"/>
          </a:solidFill>
          <a:ln/>
        </p:spPr>
      </p:sp>
      <p:sp>
        <p:nvSpPr>
          <p:cNvPr id="10" name="Shape 8"/>
          <p:cNvSpPr/>
          <p:nvPr/>
        </p:nvSpPr>
        <p:spPr>
          <a:xfrm>
            <a:off x="822960" y="3456432"/>
            <a:ext cx="548640" cy="548640"/>
          </a:xfrm>
          <a:prstGeom prst="ellipse">
            <a:avLst/>
          </a:prstGeom>
          <a:solidFill>
            <a:srgbClr val="D7263D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4564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600200" y="3310128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Narrow state representations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5029200" y="3310128"/>
            <a:ext cx="6309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use raw HTTP text or fixed payload lists instead of a structured, transferable state encoding.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434840"/>
            <a:ext cx="11064240" cy="1051560"/>
          </a:xfrm>
          <a:prstGeom prst="roundRect">
            <a:avLst>
              <a:gd name="adj" fmla="val 6087"/>
            </a:avLst>
          </a:prstGeom>
          <a:solidFill>
            <a:srgbClr val="16274F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4690872"/>
            <a:ext cx="548640" cy="548640"/>
          </a:xfrm>
          <a:prstGeom prst="ellipse">
            <a:avLst/>
          </a:prstGeom>
          <a:solidFill>
            <a:srgbClr val="D7263D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6908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00200" y="4544568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systematic ground-truth check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5029200" y="4544568"/>
            <a:ext cx="6309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Detections reported without an independent confirmation step, so false positives inflate reported gains.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58064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D3QN targets all three gaps in one agent, evaluated with an independent ground-truth confirmation step.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D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Extended D3QN: four Rainbow components, one agent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606040" cy="3246120"/>
          </a:xfrm>
          <a:prstGeom prst="roundRect">
            <a:avLst>
              <a:gd name="adj" fmla="val 2807"/>
            </a:avLst>
          </a:prstGeom>
          <a:solidFill>
            <a:srgbClr val="0F1B3C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2258568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D7263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25856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" y="306324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Double DQN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77240" y="384048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Decouples action selection from evaluation to curb Q-value overestimation.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83280" y="1965960"/>
            <a:ext cx="2606040" cy="3246120"/>
          </a:xfrm>
          <a:prstGeom prst="roundRect">
            <a:avLst>
              <a:gd name="adj" fmla="val 2807"/>
            </a:avLst>
          </a:prstGeom>
          <a:solidFill>
            <a:srgbClr val="0F1B3C"/>
          </a:solidFill>
          <a:ln/>
        </p:spPr>
      </p:sp>
      <p:sp>
        <p:nvSpPr>
          <p:cNvPr id="10" name="Shape 8"/>
          <p:cNvSpPr/>
          <p:nvPr/>
        </p:nvSpPr>
        <p:spPr>
          <a:xfrm>
            <a:off x="3639312" y="2258568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D7263D"/>
          </a:solidFill>
          <a:ln/>
        </p:spPr>
      </p:sp>
      <p:sp>
        <p:nvSpPr>
          <p:cNvPr id="11" name="Text 9"/>
          <p:cNvSpPr/>
          <p:nvPr/>
        </p:nvSpPr>
        <p:spPr>
          <a:xfrm>
            <a:off x="3639312" y="225856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611880" y="306324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Dueling Networks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3611880" y="384048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Splits state-value and advantage streams for more stable policy learning.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1965960"/>
            <a:ext cx="2606040" cy="3246120"/>
          </a:xfrm>
          <a:prstGeom prst="roundRect">
            <a:avLst>
              <a:gd name="adj" fmla="val 2807"/>
            </a:avLst>
          </a:prstGeom>
          <a:solidFill>
            <a:srgbClr val="0F1B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473952" y="2258568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D7263D"/>
          </a:solidFill>
          <a:ln/>
        </p:spPr>
      </p:sp>
      <p:sp>
        <p:nvSpPr>
          <p:cNvPr id="16" name="Text 14"/>
          <p:cNvSpPr/>
          <p:nvPr/>
        </p:nvSpPr>
        <p:spPr>
          <a:xfrm>
            <a:off x="6473952" y="225856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446520" y="306324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Prioritized Experience Replay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446520" y="384048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Replays rare, high-signal transitions (e.g. confirmed vuln hits) more often.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52560" y="1965960"/>
            <a:ext cx="2606040" cy="3246120"/>
          </a:xfrm>
          <a:prstGeom prst="roundRect">
            <a:avLst>
              <a:gd name="adj" fmla="val 2807"/>
            </a:avLst>
          </a:prstGeom>
          <a:solidFill>
            <a:srgbClr val="0F1B3C"/>
          </a:solidFill>
          <a:ln/>
        </p:spPr>
      </p:sp>
      <p:sp>
        <p:nvSpPr>
          <p:cNvPr id="20" name="Shape 18"/>
          <p:cNvSpPr/>
          <p:nvPr/>
        </p:nvSpPr>
        <p:spPr>
          <a:xfrm>
            <a:off x="9308592" y="2258568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D7263D"/>
          </a:solidFill>
          <a:ln/>
        </p:spPr>
      </p:sp>
      <p:sp>
        <p:nvSpPr>
          <p:cNvPr id="21" name="Text 19"/>
          <p:cNvSpPr/>
          <p:nvPr/>
        </p:nvSpPr>
        <p:spPr>
          <a:xfrm>
            <a:off x="9308592" y="225856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281160" y="306324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Noisy Nets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9281160" y="384048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Learned, parametric exploration -- no manual epsilon-decay schedule to tune.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4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multi-step returns for longer-horizon credit assignment across multi-request attack chains.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D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mock targets, one agent, one report</a:t>
            </a:r>
            <a:endParaRPr lang="en-US" sz="3200" dirty="0"/>
          </a:p>
        </p:txBody>
      </p:sp>
      <p:pic>
        <p:nvPicPr>
          <p:cNvPr id="4" name="Image 0" descr="/sessions/zen-quirky-hopper/mnt/outputs/fig1_sysarch_n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126480" cy="476302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691640"/>
            <a:ext cx="6126480" cy="4763029"/>
          </a:xfrm>
          <a:prstGeom prst="roundRect">
            <a:avLst>
              <a:gd name="adj" fmla="val 960"/>
            </a:avLst>
          </a:prstGeom>
          <a:ln w="12700">
            <a:solidFill>
              <a:srgbClr val="D6DC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040880" y="17373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flows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7040880" y="2359152"/>
            <a:ext cx="109728" cy="109728"/>
          </a:xfrm>
          <a:prstGeom prst="rect">
            <a:avLst/>
          </a:prstGeom>
          <a:solidFill>
            <a:srgbClr val="D7263D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0" y="2286000"/>
            <a:ext cx="4297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mock apps: e-commerce, social media, banking, blog, file share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040880" y="3227832"/>
            <a:ext cx="109728" cy="109728"/>
          </a:xfrm>
          <a:prstGeom prst="rect">
            <a:avLst/>
          </a:prstGeom>
          <a:solidFill>
            <a:srgbClr val="D7263D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0" y="3154680"/>
            <a:ext cx="4297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15-D state vector encodes HTTP + DOM signal per step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040880" y="4096512"/>
            <a:ext cx="109728" cy="109728"/>
          </a:xfrm>
          <a:prstGeom prst="rect">
            <a:avLst/>
          </a:prstGeom>
          <a:solidFill>
            <a:srgbClr val="D7263D"/>
          </a:solidFill>
          <a:ln/>
        </p:spPr>
      </p:sp>
      <p:sp>
        <p:nvSpPr>
          <p:cNvPr id="12" name="Text 9"/>
          <p:cNvSpPr/>
          <p:nvPr/>
        </p:nvSpPr>
        <p:spPr>
          <a:xfrm>
            <a:off x="7315200" y="4023360"/>
            <a:ext cx="4297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budget gate: default 3,000 episodes to convergence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040880" y="4965192"/>
            <a:ext cx="109728" cy="109728"/>
          </a:xfrm>
          <a:prstGeom prst="rect">
            <a:avLst/>
          </a:prstGeom>
          <a:solidFill>
            <a:srgbClr val="D7263D"/>
          </a:solidFill>
          <a:ln/>
        </p:spPr>
      </p:sp>
      <p:sp>
        <p:nvSpPr>
          <p:cNvPr id="14" name="Text 11"/>
          <p:cNvSpPr/>
          <p:nvPr/>
        </p:nvSpPr>
        <p:spPr>
          <a:xfrm>
            <a:off x="7315200" y="4892040"/>
            <a:ext cx="4297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findings only reach the report -- unconfirmed activity is logged separately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PIPELINE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HTTP response to phase-gated action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331720" y="1645920"/>
            <a:ext cx="7589520" cy="4469682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/>
        </p:spPr>
      </p:sp>
      <p:pic>
        <p:nvPicPr>
          <p:cNvPr id="5" name="Image 0" descr="/sessions/zen-quirky-hopper/mnt/outputs/fig2_e2e_n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8880" y="1783080"/>
            <a:ext cx="7315200" cy="41953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298482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encoder -&gt; Double-Dueling Q-Network -&gt; PER -&gt; reward &amp; detection logic -&gt; phase controller -&gt; action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D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scan as a Markov Decision Process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2240280" cy="1554480"/>
          </a:xfrm>
          <a:prstGeom prst="roundRect">
            <a:avLst>
              <a:gd name="adj" fmla="val 4706"/>
            </a:avLst>
          </a:prstGeom>
          <a:solidFill>
            <a:srgbClr val="F4F6F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6596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15-D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269748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vector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4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HTTP step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017520" y="1874520"/>
            <a:ext cx="2240280" cy="1554480"/>
          </a:xfrm>
          <a:prstGeom prst="roundRect">
            <a:avLst>
              <a:gd name="adj" fmla="val 4706"/>
            </a:avLst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3017520" y="196596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017520" y="269748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4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 actions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0" y="1874520"/>
            <a:ext cx="2240280" cy="1554480"/>
          </a:xfrm>
          <a:prstGeom prst="roundRect">
            <a:avLst>
              <a:gd name="adj" fmla="val 4706"/>
            </a:avLst>
          </a:prstGeom>
          <a:solidFill>
            <a:srgbClr val="F4F6FB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0" y="196596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5486400" y="269748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Curriculum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4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3657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Reward shaping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4114800"/>
            <a:ext cx="6309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vulnerability flag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0" y="41148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617720"/>
            <a:ext cx="6309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 / defensive block triggered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0" y="46177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-0.1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5120640"/>
            <a:ext cx="6309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Wasted / redundant request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0" y="51206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-0.01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503920" y="3657600"/>
            <a:ext cx="3108960" cy="2103120"/>
          </a:xfrm>
          <a:prstGeom prst="roundRect">
            <a:avLst>
              <a:gd name="adj" fmla="val 3478"/>
            </a:avLst>
          </a:prstGeom>
          <a:solidFill>
            <a:srgbClr val="F4F6FB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0" y="379476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0F1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Bellman target uses the Double-DQN correction:</a:t>
            </a:r>
            <a:endParaRPr lang="en-US" sz="1250" dirty="0"/>
          </a:p>
          <a:p>
            <a:pPr algn="l" indent="0" marL="0">
              <a:buNone/>
            </a:pPr>
            <a:endParaRPr lang="en-US" sz="1250" dirty="0"/>
          </a:p>
          <a:p>
            <a:pPr algn="l" indent="0" marL="0">
              <a:buNone/>
            </a:pPr>
            <a:r>
              <a:rPr lang="en-US" sz="1250" i="1" dirty="0">
                <a:solidFill>
                  <a:srgbClr val="0F1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r + gamma * Q(s', argmax Q(s',a';theta); theta')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CURRICULUM 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Attacks unlock in phases, like a real engagement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834640"/>
            <a:ext cx="2468880" cy="960120"/>
          </a:xfrm>
          <a:prstGeom prst="roundRect">
            <a:avLst>
              <a:gd name="adj" fmla="val 47619"/>
            </a:avLst>
          </a:prstGeom>
          <a:solidFill>
            <a:srgbClr val="D7263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834640"/>
            <a:ext cx="2468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397764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endpoints, auth boundaries, and app surface before touching payloads.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108960" y="2834640"/>
            <a:ext cx="320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FA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29000" y="2834640"/>
            <a:ext cx="2468880" cy="960120"/>
          </a:xfrm>
          <a:prstGeom prst="roundRect">
            <a:avLst>
              <a:gd name="adj" fmla="val 47619"/>
            </a:avLst>
          </a:prstGeom>
          <a:solidFill>
            <a:srgbClr val="16274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2834640"/>
            <a:ext cx="2468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429000" y="397764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 for weak points -- input validation, session handling, access control.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897880" y="2834640"/>
            <a:ext cx="320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FA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217920" y="2834640"/>
            <a:ext cx="2468880" cy="960120"/>
          </a:xfrm>
          <a:prstGeom prst="roundRect">
            <a:avLst>
              <a:gd name="adj" fmla="val 47619"/>
            </a:avLst>
          </a:prstGeom>
          <a:solidFill>
            <a:srgbClr val="16274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2834640"/>
            <a:ext cx="2468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Exploit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217920" y="397764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targeted payloads once the agent has earned access to that phase.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686800" y="2834640"/>
            <a:ext cx="320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FA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006840" y="2834640"/>
            <a:ext cx="2468880" cy="960120"/>
          </a:xfrm>
          <a:prstGeom prst="roundRect">
            <a:avLst>
              <a:gd name="adj" fmla="val 47619"/>
            </a:avLst>
          </a:prstGeom>
          <a:solidFill>
            <a:srgbClr val="16274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06840" y="2834640"/>
            <a:ext cx="2468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Post-Exploit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006840" y="397764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confirmed footholds into deeper, multi-step impact.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557784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gates are earned, not scripted -- the agent must demonstrate signal before advancing.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D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SETUP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deliberately vulnerable mock applications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084832" cy="2103120"/>
          </a:xfrm>
          <a:prstGeom prst="roundRect">
            <a:avLst>
              <a:gd name="adj" fmla="val 3509"/>
            </a:avLst>
          </a:prstGeom>
          <a:solidFill>
            <a:srgbClr val="0F1B3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194560"/>
            <a:ext cx="20848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3063240"/>
            <a:ext cx="20848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planted vulns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770632" y="1965960"/>
            <a:ext cx="2084832" cy="2103120"/>
          </a:xfrm>
          <a:prstGeom prst="roundRect">
            <a:avLst>
              <a:gd name="adj" fmla="val 3509"/>
            </a:avLst>
          </a:prstGeom>
          <a:solidFill>
            <a:srgbClr val="0F1B3C"/>
          </a:solidFill>
          <a:ln/>
        </p:spPr>
      </p:sp>
      <p:sp>
        <p:nvSpPr>
          <p:cNvPr id="9" name="Text 7"/>
          <p:cNvSpPr/>
          <p:nvPr/>
        </p:nvSpPr>
        <p:spPr>
          <a:xfrm>
            <a:off x="2770632" y="2194560"/>
            <a:ext cx="20848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2770632" y="3063240"/>
            <a:ext cx="20848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planted vulns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770632" y="35204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Media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992624" y="1965960"/>
            <a:ext cx="2084832" cy="2103120"/>
          </a:xfrm>
          <a:prstGeom prst="roundRect">
            <a:avLst>
              <a:gd name="adj" fmla="val 3509"/>
            </a:avLst>
          </a:prstGeom>
          <a:solidFill>
            <a:srgbClr val="0F1B3C"/>
          </a:solidFill>
          <a:ln/>
        </p:spPr>
      </p:sp>
      <p:sp>
        <p:nvSpPr>
          <p:cNvPr id="13" name="Text 11"/>
          <p:cNvSpPr/>
          <p:nvPr/>
        </p:nvSpPr>
        <p:spPr>
          <a:xfrm>
            <a:off x="4992624" y="2194560"/>
            <a:ext cx="20848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4992624" y="3063240"/>
            <a:ext cx="20848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planted vulns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92624" y="35204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214616" y="1965960"/>
            <a:ext cx="2084832" cy="2103120"/>
          </a:xfrm>
          <a:prstGeom prst="roundRect">
            <a:avLst>
              <a:gd name="adj" fmla="val 3509"/>
            </a:avLst>
          </a:prstGeom>
          <a:solidFill>
            <a:srgbClr val="0F1B3C"/>
          </a:solidFill>
          <a:ln/>
        </p:spPr>
      </p:sp>
      <p:sp>
        <p:nvSpPr>
          <p:cNvPr id="17" name="Text 15"/>
          <p:cNvSpPr/>
          <p:nvPr/>
        </p:nvSpPr>
        <p:spPr>
          <a:xfrm>
            <a:off x="7214616" y="2194560"/>
            <a:ext cx="20848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7214616" y="3063240"/>
            <a:ext cx="20848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planted vulns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214616" y="35204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436608" y="1965960"/>
            <a:ext cx="2084832" cy="2103120"/>
          </a:xfrm>
          <a:prstGeom prst="roundRect">
            <a:avLst>
              <a:gd name="adj" fmla="val 3509"/>
            </a:avLst>
          </a:prstGeom>
          <a:solidFill>
            <a:srgbClr val="0F1B3C"/>
          </a:solidFill>
          <a:ln/>
        </p:spPr>
      </p:sp>
      <p:sp>
        <p:nvSpPr>
          <p:cNvPr id="21" name="Text 19"/>
          <p:cNvSpPr/>
          <p:nvPr/>
        </p:nvSpPr>
        <p:spPr>
          <a:xfrm>
            <a:off x="9436608" y="2194560"/>
            <a:ext cx="20848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9436608" y="3063240"/>
            <a:ext cx="20848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planted vulns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436608" y="35204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Share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44348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4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for every target is enumerated in code (run_ground_truth_scan) -- not estimated -- so detection rate has an exact denominator.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548640" y="5074920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507492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finding only counts as "confirmed" when both the ground-truth response header and an independent local validator agree.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D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Confirmed detection rate, per target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83080"/>
          <a:ext cx="66751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589520" y="182880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IDOR: the one class we confirm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589520" y="2468880"/>
            <a:ext cx="91440" cy="91440"/>
          </a:xfrm>
          <a:prstGeom prst="ellipse">
            <a:avLst/>
          </a:prstGeom>
          <a:solidFill>
            <a:srgbClr val="D7263D"/>
          </a:solidFill>
          <a:ln/>
        </p:spPr>
      </p:sp>
      <p:sp>
        <p:nvSpPr>
          <p:cNvPr id="7" name="Text 4"/>
          <p:cNvSpPr/>
          <p:nvPr/>
        </p:nvSpPr>
        <p:spPr>
          <a:xfrm>
            <a:off x="7818120" y="237744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E-Commerce: 1/4 IDOR findings confirmed (25%)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589520" y="3090672"/>
            <a:ext cx="91440" cy="91440"/>
          </a:xfrm>
          <a:prstGeom prst="ellipse">
            <a:avLst/>
          </a:prstGeom>
          <a:solidFill>
            <a:srgbClr val="D7263D"/>
          </a:solidFill>
          <a:ln/>
        </p:spPr>
      </p:sp>
      <p:sp>
        <p:nvSpPr>
          <p:cNvPr id="9" name="Text 6"/>
          <p:cNvSpPr/>
          <p:nvPr/>
        </p:nvSpPr>
        <p:spPr>
          <a:xfrm>
            <a:off x="7818120" y="2999232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Media: 1/6 IDOR findings confirmed (16.7%)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589520" y="3712464"/>
            <a:ext cx="91440" cy="91440"/>
          </a:xfrm>
          <a:prstGeom prst="ellipse">
            <a:avLst/>
          </a:prstGeom>
          <a:solidFill>
            <a:srgbClr val="D7263D"/>
          </a:solidFill>
          <a:ln/>
        </p:spPr>
      </p:sp>
      <p:sp>
        <p:nvSpPr>
          <p:cNvPr id="11" name="Text 8"/>
          <p:cNvSpPr/>
          <p:nvPr/>
        </p:nvSpPr>
        <p:spPr>
          <a:xfrm>
            <a:off x="7818120" y="3621024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Banking, Blog, File Share: 0 confirmed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589520" y="4334256"/>
            <a:ext cx="91440" cy="91440"/>
          </a:xfrm>
          <a:prstGeom prst="ellipse">
            <a:avLst/>
          </a:prstGeom>
          <a:solidFill>
            <a:srgbClr val="D7263D"/>
          </a:solidFill>
          <a:ln/>
        </p:spPr>
      </p:sp>
      <p:sp>
        <p:nvSpPr>
          <p:cNvPr id="13" name="Text 10"/>
          <p:cNvSpPr/>
          <p:nvPr/>
        </p:nvSpPr>
        <p:spPr>
          <a:xfrm>
            <a:off x="7818120" y="4242816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planted class: 0% across all 5 targets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589520" y="502920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F1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report this as-is -- the contribution is the honest measurement pipeline, not an inflated win.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 CHECK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scanning didn't move the needle -- and that's the finding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212080" cy="3566160"/>
          </a:xfrm>
          <a:prstGeom prst="roundRect">
            <a:avLst>
              <a:gd name="adj" fmla="val 2051"/>
            </a:avLst>
          </a:prstGeom>
          <a:solidFill>
            <a:srgbClr val="16274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194560"/>
            <a:ext cx="5212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D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5x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in crawl depth &amp; attack intensity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(depth 150 / intensity 100 vs. 20 / 5)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188720" y="4160520"/>
            <a:ext cx="3931920" cy="0"/>
          </a:xfrm>
          <a:prstGeom prst="line">
            <a:avLst/>
          </a:prstGeom>
          <a:noFill/>
          <a:ln w="12700">
            <a:solidFill>
              <a:srgbClr val="8FA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297680"/>
            <a:ext cx="5212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~3x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493776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unconfirmed activity flagged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80760" y="1965960"/>
            <a:ext cx="5532120" cy="3566160"/>
          </a:xfrm>
          <a:prstGeom prst="roundRect">
            <a:avLst>
              <a:gd name="adj" fmla="val 2051"/>
            </a:avLst>
          </a:prstGeom>
          <a:solidFill>
            <a:srgbClr val="16274F"/>
          </a:solidFill>
          <a:ln/>
        </p:spPr>
      </p:sp>
      <p:sp>
        <p:nvSpPr>
          <p:cNvPr id="11" name="Text 9"/>
          <p:cNvSpPr/>
          <p:nvPr/>
        </p:nvSpPr>
        <p:spPr>
          <a:xfrm>
            <a:off x="6080760" y="2194560"/>
            <a:ext cx="5532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FBF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6355080" y="3200400"/>
            <a:ext cx="4983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in confirmed detections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355080" y="3749040"/>
            <a:ext cx="4983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single IDOR finding reconfirmed on E-Commerce and Social Media; Banking, Blog, and File Share stayed at zero.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55080" y="4800600"/>
            <a:ext cx="4983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Ground-truth confirmation resists false-positive inflation from more aggressive scanning.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the detection gap is structural, not a symptom of under-scanning.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D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LEAVES US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Limitations, honestly stated -- and what's next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87452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450592"/>
            <a:ext cx="91440" cy="91440"/>
          </a:xfrm>
          <a:prstGeom prst="rect">
            <a:avLst/>
          </a:prstGeom>
          <a:solidFill>
            <a:srgbClr val="D7263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377440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detection is narrow -- IDOR only, on 2 of 5 targets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227832"/>
            <a:ext cx="91440" cy="91440"/>
          </a:xfrm>
          <a:prstGeom prst="rect">
            <a:avLst/>
          </a:prstGeom>
          <a:solidFill>
            <a:srgbClr val="D7263D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154680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Single-agent architecture; no multi-agent or transfer study yet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4005072"/>
            <a:ext cx="91440" cy="91440"/>
          </a:xfrm>
          <a:prstGeom prst="rect">
            <a:avLst/>
          </a:prstGeom>
          <a:solidFill>
            <a:srgbClr val="D7263D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931920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shaping is hand-tuned, not learned or ablated per-term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309360" y="187452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BF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309360" y="2450592"/>
            <a:ext cx="91440" cy="91440"/>
          </a:xfrm>
          <a:prstGeom prst="rect">
            <a:avLst/>
          </a:prstGeom>
          <a:solidFill>
            <a:srgbClr val="2FBF71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2377440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past n=5 seeds -- current Wilcoxon floor (p=0.0625) blocks pairwise significance even on a clean sweep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309360" y="3227832"/>
            <a:ext cx="91440" cy="91440"/>
          </a:xfrm>
          <a:prstGeom prst="rect">
            <a:avLst/>
          </a:prstGeom>
          <a:solidFill>
            <a:srgbClr val="2FBF71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3154680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Multi-seed, multi-run replication of the live Table I scan (currently single-seed, unlike the 5-seed ablation study)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4005072"/>
            <a:ext cx="91440" cy="91440"/>
          </a:xfrm>
          <a:prstGeom prst="rect">
            <a:avLst/>
          </a:prstGeom>
          <a:solidFill>
            <a:srgbClr val="2FBF71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3931920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curriculum to auth-bypass and SSRF-style multi-step chains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6087"/>
            </a:avLst>
          </a:prstGeom>
          <a:solidFill>
            <a:srgbClr val="0F1B3C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502920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Contribution: a reproducible, ground-truth-verified DRL pipeline for web vulnerability discovery -- built to be extended, not overclaimed.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16274F"/>
          </a:solidFill>
          <a:ln/>
        </p:spPr>
      </p:sp>
      <p:sp>
        <p:nvSpPr>
          <p:cNvPr id="3" name="Shape 1"/>
          <p:cNvSpPr/>
          <p:nvPr/>
        </p:nvSpPr>
        <p:spPr>
          <a:xfrm>
            <a:off x="-274320" y="5212080"/>
            <a:ext cx="2194560" cy="2194560"/>
          </a:xfrm>
          <a:prstGeom prst="ellipse">
            <a:avLst/>
          </a:prstGeom>
          <a:solidFill>
            <a:srgbClr val="1D2E5C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2860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22960" y="3246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114800"/>
            <a:ext cx="2011680" cy="0"/>
          </a:xfrm>
          <a:prstGeom prst="line">
            <a:avLst/>
          </a:prstGeom>
          <a:noFill/>
          <a:ln w="31750">
            <a:solidFill>
              <a:srgbClr val="D72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29768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Hein Htet Zaw  ·  Karn Yongsiriwit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Rangsit University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InCIT 2026, Bangkok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2026-08-13T03:05:56Z</dcterms:created>
  <dcterms:modified xsi:type="dcterms:W3CDTF">2026-08-13T03:05:56Z</dcterms:modified>
</cp:coreProperties>
</file>