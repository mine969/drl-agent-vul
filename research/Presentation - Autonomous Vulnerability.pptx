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Fira Sans Light" charset="1" panose="020B0403050000020004"/>
      <p:regular r:id="rId17"/>
    </p:embeddedFont>
    <p:embeddedFont>
      <p:font typeface="Helios Extended" charset="1" panose="02000505040000020004"/>
      <p:regular r:id="rId18"/>
    </p:embeddedFont>
    <p:embeddedFont>
      <p:font typeface="Fira Sans Bold" charset="1" panose="020B0803050000020004"/>
      <p:regular r:id="rId19"/>
    </p:embeddedFont>
    <p:embeddedFont>
      <p:font typeface="Fira Sans" charset="1" panose="020B050305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19850" cy="10287000"/>
            <a:chOff x="0" y="0"/>
            <a:chExt cx="1690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0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90825">
                  <a:moveTo>
                    <a:pt x="0" y="0"/>
                  </a:moveTo>
                  <a:lnTo>
                    <a:pt x="1690825" y="0"/>
                  </a:lnTo>
                  <a:lnTo>
                    <a:pt x="169082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BD3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9082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7191375" cy="8966200"/>
            <a:chOff x="0" y="0"/>
            <a:chExt cx="1614733" cy="20132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14733" cy="2013248"/>
            </a:xfrm>
            <a:custGeom>
              <a:avLst/>
              <a:gdLst/>
              <a:ahLst/>
              <a:cxnLst/>
              <a:rect r="r" b="b" t="t" l="l"/>
              <a:pathLst>
                <a:path h="2013248" w="1614733">
                  <a:moveTo>
                    <a:pt x="0" y="0"/>
                  </a:moveTo>
                  <a:lnTo>
                    <a:pt x="1614733" y="0"/>
                  </a:lnTo>
                  <a:lnTo>
                    <a:pt x="1614733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l="0" t="-128" r="0" b="-12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097862" y="0"/>
            <a:ext cx="190138" cy="10287000"/>
            <a:chOff x="0" y="0"/>
            <a:chExt cx="50077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0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50077">
                  <a:moveTo>
                    <a:pt x="0" y="0"/>
                  </a:moveTo>
                  <a:lnTo>
                    <a:pt x="50077" y="0"/>
                  </a:lnTo>
                  <a:lnTo>
                    <a:pt x="50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BD3E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007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1562100"/>
            <a:ext cx="6886575" cy="6455728"/>
            <a:chOff x="0" y="0"/>
            <a:chExt cx="9182100" cy="860763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082492"/>
              <a:ext cx="91821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Hein Htet Zaw- 6609533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8100"/>
              <a:ext cx="9182100" cy="7397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662"/>
                </a:lnSpc>
              </a:pPr>
              <a:r>
                <a:rPr lang="en-US" sz="7875">
                  <a:solidFill>
                    <a:srgbClr val="CBD3E8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RL Based </a:t>
              </a:r>
              <a:r>
                <a:rPr lang="en-US" sz="7875">
                  <a:solidFill>
                    <a:srgbClr val="CBD3E8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Autonomous Vulnerability Finder for web security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CBD3E8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Problems and </a:t>
            </a:r>
            <a:r>
              <a:rPr lang="en-US" sz="8000">
                <a:solidFill>
                  <a:srgbClr val="CBD3E8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Limitations of Previous Approaches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3391992"/>
            <a:chOff x="0" y="0"/>
            <a:chExt cx="5334000" cy="452265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3340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Traditional vulnerability scanners rely on static rules, making them </a:t>
              </a:r>
              <a:r>
                <a:rPr lang="en-US" b="true" sz="2099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ineffective</a:t>
              </a: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against complex, evolving threats that require adaptive solutions to identify and mitigate security risks effectively.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STATIC SCANNERS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391992"/>
            <a:chOff x="0" y="0"/>
            <a:chExt cx="5346700" cy="45226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Relying on human penetration testing is </a:t>
              </a:r>
              <a:r>
                <a:rPr lang="en-US" b="true" sz="2099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time-consuming</a:t>
              </a: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and often results in missed vulnerabilities due to limitations in human analysis and the dynamic nature of web applications.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MANUAL PROCESSES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3484909"/>
            <a:chOff x="0" y="0"/>
            <a:chExt cx="5346700" cy="464654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755775"/>
              <a:ext cx="53467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Current tools depend heavily on signature-based detection, which </a:t>
              </a:r>
              <a:r>
                <a:rPr lang="en-US" b="true" sz="2099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restricts</a:t>
              </a: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their ability to recognize novel vulnerabilities, leaving systems exposed to emerging threats that aren't yet cataloged.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DEPENDENCY ON SIGNATURES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CBD3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CBD3E8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Research Objectives and Aims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3391992"/>
            <a:chOff x="0" y="0"/>
            <a:chExt cx="5334000" cy="452265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3340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primary goal is to design an </a:t>
              </a:r>
              <a:r>
                <a:rPr lang="en-US" b="true" sz="2099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autonomous vulnerability agent</a:t>
              </a: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capable of identifying web vulnerabilities without human intervention, thus enhancing efficiency and effectiveness in security testing.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AUTONOMOUS AGENT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391992"/>
            <a:chOff x="0" y="0"/>
            <a:chExt cx="5346700" cy="45226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Implementing DDDQN will allow the agent to leverage deep reinforcement learning, enabling it to adapt and learn from both </a:t>
              </a:r>
              <a:r>
                <a:rPr lang="en-US" b="true" sz="2099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successful and unsuccessful</a:t>
              </a: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attempts to exploit vulnerabilities dynamically.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DDDQN INTEGRATION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3391992"/>
            <a:chOff x="0" y="0"/>
            <a:chExt cx="5346700" cy="45226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agent's performance will be evaluated on various </a:t>
              </a:r>
              <a:r>
                <a:rPr lang="en-US" b="true" sz="2099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vulnerable web applications</a:t>
              </a: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, ensuring its effectiveness in real-world scenarios and contributing valuable insights into automated penetration testing methods.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EVALUATION PROCESS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CBD3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CBD3E8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Literature Review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3391992"/>
            <a:chOff x="0" y="0"/>
            <a:chExt cx="5334000" cy="452265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3340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 comprehensive survey of 12 papers highlighted the evolving role of reinforcement learning in cybersecurity, focusing on automated penetration testing methodologies and their effectiveness.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RESEARCH LANDSCAPE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849192"/>
            <a:chOff x="0" y="0"/>
            <a:chExt cx="5346700" cy="51322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7557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literature reveals persistent challenges with static signature-based tools, emphasizing the need for adaptive approaches that can address complex and dynamic web vulnerabilities effectively.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CYBERSECURITY CHALLENGES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3027709"/>
            <a:chOff x="0" y="0"/>
            <a:chExt cx="5346700" cy="403694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3467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Various DQN variants were explored, showcasing their potential to enhance learning stability and speed, paving the way for more robust autonomous agents in vulnerability discovery.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DQN VARIANTS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CBD3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CBD3E8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Key References and Identified Research Gaps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3391992"/>
            <a:chOff x="0" y="0"/>
            <a:chExt cx="5334000" cy="452265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3340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Key studies such as Sutton &amp; Barto (2018) provide essential insights into reinforcement learning. Their frameworks serve as a basis for developing autonomous agents in cybersecurity.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FOUNDATIONAL RESEARCH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027709"/>
            <a:chOff x="0" y="0"/>
            <a:chExt cx="5346700" cy="40369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3467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Mnih et al. (2015) and Schaul et al. (2016) explore DQN variants, yet they lack comprehensive approaches that address end-to-end vulnerability scanning in web applications.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CURRENT APPLICATIONS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3391992"/>
            <a:chOff x="0" y="0"/>
            <a:chExt cx="5346700" cy="45226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 significant gap exists in the development of fully autonomous agents capable of adapting to evolving web vulnerabilities, highlighting the need for innovative methodologies like DDDQN + PER.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RESEARCH SHORTCOMINGS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CBD3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CBD3E8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Proposed Methodology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3391992"/>
            <a:chOff x="0" y="0"/>
            <a:chExt cx="5334000" cy="452265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3340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autonomous vulnerability agent is crafted to simulate human-like exploration, intelligently interacting with web applications to identify potential security weaknesses and vulnerabilities.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AGENT DESIGN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027709"/>
            <a:chOff x="0" y="0"/>
            <a:chExt cx="5346700" cy="40369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3467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agent observes HTTP responses from web apps, analyzing varying outcomes to refine its strategy for selecting effective exploit actions to maximize vulnerability discovery.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INTERACTION PROCESS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3391992"/>
            <a:chOff x="0" y="0"/>
            <a:chExt cx="5346700" cy="45226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Utilizing DDDQN and PER, the agent learns from both successful and failed attempts, enabling efficient learning pathways and gradually improving its vulnerability detection capabilities.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LEARNING MECHANISM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CBD3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CBD3E8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Reinforcement Learning System Design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3391992"/>
            <a:chOff x="0" y="0"/>
            <a:chExt cx="5334000" cy="452265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3340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state representation consists of various features from the web application, such as endpoint data and HTTP response characteristics, crucial for effective decision-making during vulnerability assessment.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STATE REPRESENTATION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391992"/>
            <a:chOff x="0" y="0"/>
            <a:chExt cx="5346700" cy="45226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Actions involve selecting specific payloads or methods to exploit identified vulnerabilities, enabling the agent to simulate attacker-like behavior and adapt to the dynamic nature of web applications.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ACTION SELECTION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3756275"/>
            <a:chOff x="0" y="0"/>
            <a:chExt cx="5346700" cy="50083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346700" cy="3862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reward mechanism incentivizes the agent through positive rewards for successful vulnerability discovery and negative penalties for erroneous actions, ensuring continuous improvement in performance during training episodes.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REWARD MECHANISM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CBD3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341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CBD3E8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Why DDDQN and Prioritized Experience Replay?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3849192"/>
            <a:chOff x="0" y="0"/>
            <a:chExt cx="5334000" cy="513225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55775"/>
              <a:ext cx="53340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DDDQN mitigates value overestimation by using double Q-learning, which leads to more accurate action-value estimates and enhances the agent's decision-making process during training.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REDUCED OVERESTIMATION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391992"/>
            <a:chOff x="0" y="0"/>
            <a:chExt cx="5346700" cy="45226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incorporation of Prioritized Experience Replay allows the agent to focus on more informative experiences, leading to quicker learning and improved performance in discovering web vulnerabilities.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FASTER CONVERGENCE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3391992"/>
            <a:chOff x="0" y="0"/>
            <a:chExt cx="5346700" cy="45226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DDDQN combined with PER provides a robust training framework, reducing instability and variance in learning, thus ensuring consistent performance across different web application scenarios.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STABLE TRAINING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CBD3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CBD3E8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Experimental Setup for Vulnerability Discovery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3849192"/>
            <a:chOff x="0" y="0"/>
            <a:chExt cx="5334000" cy="513225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55775"/>
              <a:ext cx="53340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Five vulnerable web applications were chosen, representing common exploitation targets, including XSS, SQL injection, IDOR, and SSRF, to evaluate the effectiveness of the proposed method.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WEB APPLICATION SELECTION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391992"/>
            <a:chOff x="0" y="0"/>
            <a:chExt cx="5346700" cy="45226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Each experiment consisted of 3000 to 5000 episodes, allowing the agent to interact with the environment extensively and learn from various vulnerabilities encountered during the testing phase.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EPISODE CONFIGURATION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3391992"/>
            <a:chOff x="0" y="0"/>
            <a:chExt cx="5346700" cy="45226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Metrics such as detection rates and false positive counts were tracked to assess the agent's performance, providing insights into the learning efficiency and overall effectiveness of the system.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PERFORMANCE METRICS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CBD3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9067114" y="1028014"/>
            <a:ext cx="191872" cy="18326100"/>
            <a:chOff x="0" y="0"/>
            <a:chExt cx="50534" cy="482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34" cy="4826627"/>
            </a:xfrm>
            <a:custGeom>
              <a:avLst/>
              <a:gdLst/>
              <a:ahLst/>
              <a:cxnLst/>
              <a:rect r="r" b="b" t="t" l="l"/>
              <a:pathLst>
                <a:path h="4826627" w="50534">
                  <a:moveTo>
                    <a:pt x="0" y="0"/>
                  </a:moveTo>
                  <a:lnTo>
                    <a:pt x="50534" y="0"/>
                  </a:lnTo>
                  <a:lnTo>
                    <a:pt x="50534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CBD3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0534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0">
            <a:off x="0" y="0"/>
            <a:ext cx="10734675" cy="10287000"/>
          </a:xfrm>
          <a:prstGeom prst="rect">
            <a:avLst/>
          </a:prstGeom>
          <a:solidFill>
            <a:srgbClr val="14437F"/>
          </a:solid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91497" y="335642"/>
            <a:ext cx="9816406" cy="8217593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66750" y="8886825"/>
            <a:ext cx="9204437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 spc="-18">
                <a:solidFill>
                  <a:srgbClr val="CBD3E8"/>
                </a:solidFill>
                <a:latin typeface="Fira Sans"/>
                <a:ea typeface="Fira Sans"/>
                <a:cs typeface="Fira Sans"/>
                <a:sym typeface="Fira Sans"/>
              </a:rPr>
              <a:t>Learning curve demonstrating improved detection rates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172950" y="1562100"/>
            <a:ext cx="5448300" cy="5118413"/>
            <a:chOff x="0" y="0"/>
            <a:chExt cx="7264400" cy="682455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9050"/>
              <a:ext cx="7264400" cy="34747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82"/>
                </a:lnSpc>
                <a:spcBef>
                  <a:spcPct val="0"/>
                </a:spcBef>
              </a:pPr>
              <a:r>
                <a:rPr lang="en-US" sz="6075" strike="noStrike" u="none">
                  <a:solidFill>
                    <a:srgbClr val="CBD3E8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Experimental Results Overview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197555"/>
              <a:ext cx="7264400" cy="2626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50"/>
                </a:lnSpc>
                <a:spcBef>
                  <a:spcPct val="0"/>
                </a:spcBef>
              </a:pPr>
              <a:r>
                <a:rPr lang="en-US" sz="2100" spc="-42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line chart illustrates the </a:t>
              </a:r>
              <a:r>
                <a:rPr lang="en-US" b="true" sz="2100" spc="-42">
                  <a:solidFill>
                    <a:srgbClr val="CBD3E8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progressive enhancement</a:t>
              </a:r>
              <a:r>
                <a:rPr lang="en-US" sz="2100" spc="-42">
                  <a:solidFill>
                    <a:srgbClr val="CBD3E8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in vulnerability detection rates over multiple episodes, showcasing how the DDDQN + PER approach facilitates faster learning and reduces false positives effectively.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648200"/>
            <a:ext cx="7967378" cy="1108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>
                <a:solidFill>
                  <a:srgbClr val="CBD3E8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6886575" cy="8966200"/>
            <a:chOff x="0" y="0"/>
            <a:chExt cx="1546294" cy="2013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6294" cy="2013248"/>
            </a:xfrm>
            <a:custGeom>
              <a:avLst/>
              <a:gdLst/>
              <a:ahLst/>
              <a:cxnLst/>
              <a:rect r="r" b="b" t="t" l="l"/>
              <a:pathLst>
                <a:path h="2013248" w="1546294">
                  <a:moveTo>
                    <a:pt x="0" y="0"/>
                  </a:moveTo>
                  <a:lnTo>
                    <a:pt x="1546294" y="0"/>
                  </a:lnTo>
                  <a:lnTo>
                    <a:pt x="1546294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8096128" y="0"/>
            <a:ext cx="191872" cy="10287000"/>
            <a:chOff x="0" y="0"/>
            <a:chExt cx="5053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534" cy="2709333"/>
            </a:xfrm>
            <a:custGeom>
              <a:avLst/>
              <a:gdLst/>
              <a:ahLst/>
              <a:cxnLst/>
              <a:rect r="r" b="b" t="t" l="l"/>
              <a:pathLst>
                <a:path h="2709333" w="50534">
                  <a:moveTo>
                    <a:pt x="0" y="0"/>
                  </a:moveTo>
                  <a:lnTo>
                    <a:pt x="50534" y="0"/>
                  </a:lnTo>
                  <a:lnTo>
                    <a:pt x="5053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BD3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053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Autonomous Vulnerability</dc:description>
  <dc:identifier>DAG_HwJlokQ</dc:identifier>
  <dcterms:modified xsi:type="dcterms:W3CDTF">2011-08-01T06:04:30Z</dcterms:modified>
  <cp:revision>1</cp:revision>
  <dc:title>Presentation - Autonomous Vulnerability</dc:title>
</cp:coreProperties>
</file>